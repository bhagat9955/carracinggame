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0" r:id="rId4"/>
    <p:sldId id="261" r:id="rId5"/>
    <p:sldId id="262" r:id="rId6"/>
    <p:sldId id="263" r:id="rId7"/>
    <p:sldId id="264" r:id="rId8"/>
    <p:sldId id="265" r:id="rId9"/>
    <p:sldId id="266" r:id="rId10"/>
    <p:sldId id="267" r:id="rId11"/>
    <p:sldId id="259" r:id="rId12"/>
    <p:sldId id="268" r:id="rId13"/>
    <p:sldId id="269" r:id="rId14"/>
    <p:sldId id="270" r:id="rId15"/>
    <p:sldId id="271" r:id="rId16"/>
    <p:sldId id="272" r:id="rId17"/>
    <p:sldId id="273" r:id="rId18"/>
    <p:sldId id="258" r:id="rId19"/>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691" y="-91"/>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400" b="0" i="0">
                <a:solidFill>
                  <a:srgbClr val="04A2B9"/>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04A2B9"/>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04A2B9"/>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04A2B9"/>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4/10/2026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4/10/2026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78275" y="184582"/>
            <a:ext cx="1351280" cy="391159"/>
          </a:xfrm>
          <a:prstGeom prst="rect">
            <a:avLst/>
          </a:prstGeom>
        </p:spPr>
        <p:txBody>
          <a:bodyPr wrap="square" lIns="0" tIns="0" rIns="0" bIns="0">
            <a:spAutoFit/>
          </a:bodyPr>
          <a:lstStyle>
            <a:lvl1pPr>
              <a:defRPr sz="2400" b="0" i="0">
                <a:solidFill>
                  <a:srgbClr val="04A2B9"/>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4/10/2026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6824109" y="1538185"/>
            <a:ext cx="3936047" cy="3647872"/>
          </a:xfrm>
          <a:prstGeom prst="rect">
            <a:avLst/>
          </a:prstGeom>
        </p:spPr>
      </p:pic>
      <p:pic>
        <p:nvPicPr>
          <p:cNvPr id="10" name="Picture 9"/>
          <p:cNvPicPr/>
          <p:nvPr/>
        </p:nvPicPr>
        <p:blipFill>
          <a:blip r:embed="rId3" cstate="print"/>
          <a:stretch>
            <a:fillRect/>
          </a:stretch>
        </p:blipFill>
        <p:spPr>
          <a:xfrm>
            <a:off x="1143000" y="2667000"/>
            <a:ext cx="4572000" cy="1219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74434"/>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Title</a:t>
            </a:r>
            <a:endParaRPr sz="1700">
              <a:latin typeface="Trebuchet MS"/>
              <a:cs typeface="Trebuchet MS"/>
            </a:endParaRPr>
          </a:p>
        </p:txBody>
      </p:sp>
      <p:sp>
        <p:nvSpPr>
          <p:cNvPr id="44" name="TextBox 43"/>
          <p:cNvSpPr txBox="1"/>
          <p:nvPr/>
        </p:nvSpPr>
        <p:spPr>
          <a:xfrm>
            <a:off x="990600" y="1524000"/>
            <a:ext cx="8610600" cy="369332"/>
          </a:xfrm>
          <a:prstGeom prst="rect">
            <a:avLst/>
          </a:prstGeom>
          <a:noFill/>
        </p:spPr>
        <p:txBody>
          <a:bodyPr wrap="square" rtlCol="0">
            <a:spAutoFit/>
          </a:bodyPr>
          <a:lstStyle/>
          <a:p>
            <a:r>
              <a:rPr lang="en-US" b="1" dirty="0" smtClean="0">
                <a:latin typeface="Arial Rounded MT Bold" pitchFamily="34" charset="0"/>
              </a:rPr>
              <a:t>			Car Racing Game (C# Project)</a:t>
            </a:r>
            <a:endParaRPr lang="en-US" b="1" dirty="0">
              <a:latin typeface="Arial Rounded MT Bold" pitchFamily="34" charset="0"/>
            </a:endParaRPr>
          </a:p>
        </p:txBody>
      </p:sp>
      <p:sp>
        <p:nvSpPr>
          <p:cNvPr id="45" name="TextBox 44"/>
          <p:cNvSpPr txBox="1"/>
          <p:nvPr/>
        </p:nvSpPr>
        <p:spPr>
          <a:xfrm>
            <a:off x="1371600" y="2743200"/>
            <a:ext cx="6324600" cy="3831818"/>
          </a:xfrm>
          <a:prstGeom prst="rect">
            <a:avLst/>
          </a:prstGeom>
          <a:noFill/>
        </p:spPr>
        <p:txBody>
          <a:bodyPr wrap="square" rtlCol="0">
            <a:spAutoFit/>
          </a:bodyPr>
          <a:lstStyle/>
          <a:p>
            <a:pPr>
              <a:lnSpc>
                <a:spcPct val="150000"/>
              </a:lnSpc>
            </a:pPr>
            <a:r>
              <a:rPr lang="en-US" b="1" dirty="0" smtClean="0"/>
              <a:t>Title:</a:t>
            </a:r>
            <a:r>
              <a:rPr lang="en-US" dirty="0" smtClean="0"/>
              <a:t> Car Racing Game</a:t>
            </a:r>
            <a:br>
              <a:rPr lang="en-US" dirty="0" smtClean="0"/>
            </a:br>
            <a:r>
              <a:rPr lang="en-US" b="1" dirty="0" smtClean="0"/>
              <a:t>Subtitle:</a:t>
            </a:r>
            <a:r>
              <a:rPr lang="en-US" dirty="0" smtClean="0"/>
              <a:t> Mini Project in C#</a:t>
            </a:r>
            <a:br>
              <a:rPr lang="en-US" dirty="0" smtClean="0"/>
            </a:br>
            <a:r>
              <a:rPr lang="en-US" b="1" dirty="0" smtClean="0"/>
              <a:t>Name:</a:t>
            </a:r>
            <a:r>
              <a:rPr lang="en-US" dirty="0" smtClean="0"/>
              <a:t> Manish </a:t>
            </a:r>
            <a:r>
              <a:rPr lang="en-US" dirty="0" err="1" smtClean="0"/>
              <a:t>sahni</a:t>
            </a:r>
            <a:endParaRPr lang="en-US" dirty="0" smtClean="0"/>
          </a:p>
          <a:p>
            <a:pPr>
              <a:lnSpc>
                <a:spcPct val="150000"/>
              </a:lnSpc>
            </a:pPr>
            <a:r>
              <a:rPr lang="en-US" b="1" dirty="0" smtClean="0"/>
              <a:t>Roll: </a:t>
            </a:r>
            <a:r>
              <a:rPr lang="en-US" dirty="0" smtClean="0"/>
              <a:t>92400527312</a:t>
            </a:r>
          </a:p>
          <a:p>
            <a:pPr>
              <a:lnSpc>
                <a:spcPct val="150000"/>
              </a:lnSpc>
            </a:pPr>
            <a:r>
              <a:rPr lang="en-US" b="1" dirty="0" smtClean="0"/>
              <a:t>Name: </a:t>
            </a:r>
            <a:r>
              <a:rPr lang="en-US" dirty="0" err="1"/>
              <a:t>S</a:t>
            </a:r>
            <a:r>
              <a:rPr lang="en-US" dirty="0" err="1" smtClean="0"/>
              <a:t>aket</a:t>
            </a:r>
            <a:r>
              <a:rPr lang="en-US" dirty="0" smtClean="0"/>
              <a:t>  Kumar  </a:t>
            </a:r>
            <a:r>
              <a:rPr lang="en-US" dirty="0" err="1"/>
              <a:t>B</a:t>
            </a:r>
            <a:r>
              <a:rPr lang="en-US" dirty="0" err="1" smtClean="0"/>
              <a:t>hagat</a:t>
            </a:r>
            <a:r>
              <a:rPr lang="en-US" dirty="0" smtClean="0"/>
              <a:t> </a:t>
            </a:r>
            <a:endParaRPr lang="en-US" b="1" dirty="0" smtClean="0"/>
          </a:p>
          <a:p>
            <a:pPr>
              <a:lnSpc>
                <a:spcPct val="150000"/>
              </a:lnSpc>
            </a:pPr>
            <a:r>
              <a:rPr lang="en-US" b="1" dirty="0" smtClean="0"/>
              <a:t>Roll:</a:t>
            </a:r>
            <a:r>
              <a:rPr lang="en-US" dirty="0" smtClean="0"/>
              <a:t>92400527219</a:t>
            </a:r>
            <a:endParaRPr lang="en-US" b="1" dirty="0" smtClean="0"/>
          </a:p>
          <a:p>
            <a:pPr>
              <a:lnSpc>
                <a:spcPct val="150000"/>
              </a:lnSpc>
            </a:pPr>
            <a:r>
              <a:rPr lang="en-US" dirty="0" smtClean="0"/>
              <a:t/>
            </a:r>
            <a:br>
              <a:rPr lang="en-US" dirty="0" smtClean="0"/>
            </a:br>
            <a:r>
              <a:rPr lang="en-US" dirty="0" smtClean="0"/>
              <a:t/>
            </a:r>
            <a:br>
              <a:rPr lang="en-US" dirty="0" smtClean="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introduction</a:t>
            </a:r>
            <a:endParaRPr sz="1700">
              <a:latin typeface="Trebuchet MS"/>
              <a:cs typeface="Trebuchet MS"/>
            </a:endParaRPr>
          </a:p>
        </p:txBody>
      </p:sp>
      <p:sp>
        <p:nvSpPr>
          <p:cNvPr id="4" name="TextBox 3"/>
          <p:cNvSpPr txBox="1"/>
          <p:nvPr/>
        </p:nvSpPr>
        <p:spPr>
          <a:xfrm>
            <a:off x="685800" y="1752600"/>
            <a:ext cx="9220200" cy="4247317"/>
          </a:xfrm>
          <a:prstGeom prst="rect">
            <a:avLst/>
          </a:prstGeom>
          <a:noFill/>
        </p:spPr>
        <p:txBody>
          <a:bodyPr wrap="square" rtlCol="0">
            <a:spAutoFit/>
          </a:bodyPr>
          <a:lstStyle/>
          <a:p>
            <a:pPr>
              <a:lnSpc>
                <a:spcPct val="150000"/>
              </a:lnSpc>
            </a:pPr>
            <a:r>
              <a:rPr lang="en-US" b="1" dirty="0" smtClean="0"/>
              <a:t>Introduction</a:t>
            </a:r>
          </a:p>
          <a:p>
            <a:pPr>
              <a:lnSpc>
                <a:spcPct val="150000"/>
              </a:lnSpc>
            </a:pPr>
            <a:r>
              <a:rPr lang="en-US" dirty="0" smtClean="0"/>
              <a:t>The Car Racing Game is a simple and interactive desktop application developed using C# and Windows Forms. This game simulates a basic racing environment where the player controls a car and tries to avoid collisions with enemy vehicles moving on the road. The main goal of the game is to survive as long as possible and achieve the highest score.</a:t>
            </a:r>
          </a:p>
          <a:p>
            <a:pPr>
              <a:lnSpc>
                <a:spcPct val="150000"/>
              </a:lnSpc>
            </a:pPr>
            <a:r>
              <a:rPr lang="en-US" dirty="0" smtClean="0"/>
              <a:t>The project is designed to demonstrate fundamental concepts of programming such as event handling, real-time updates using timers, and graphical user interface (GUI) design. It provides a practical understanding of how games work using basic logic and animations.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Objectives</a:t>
            </a:r>
            <a:endParaRPr sz="1700">
              <a:latin typeface="Trebuchet MS"/>
              <a:cs typeface="Trebuchet MS"/>
            </a:endParaRPr>
          </a:p>
        </p:txBody>
      </p:sp>
      <p:sp>
        <p:nvSpPr>
          <p:cNvPr id="4" name="TextBox 3"/>
          <p:cNvSpPr txBox="1"/>
          <p:nvPr/>
        </p:nvSpPr>
        <p:spPr>
          <a:xfrm>
            <a:off x="914400" y="1905000"/>
            <a:ext cx="10210800" cy="3000821"/>
          </a:xfrm>
          <a:prstGeom prst="rect">
            <a:avLst/>
          </a:prstGeom>
          <a:noFill/>
        </p:spPr>
        <p:txBody>
          <a:bodyPr wrap="square" rtlCol="0">
            <a:spAutoFit/>
          </a:bodyPr>
          <a:lstStyle/>
          <a:p>
            <a:pPr>
              <a:lnSpc>
                <a:spcPct val="150000"/>
              </a:lnSpc>
            </a:pPr>
            <a:r>
              <a:rPr lang="en-US" b="1" dirty="0" smtClean="0"/>
              <a:t>Objectives</a:t>
            </a:r>
          </a:p>
          <a:p>
            <a:pPr>
              <a:lnSpc>
                <a:spcPct val="150000"/>
              </a:lnSpc>
            </a:pPr>
            <a:r>
              <a:rPr lang="en-US" dirty="0" smtClean="0"/>
              <a:t>The main objectives of the Car Racing Game project are to develop an interactive and user-friendly desktop application using C# and Windows Forms. The project aims to provide a clear understanding of event-driven programming and graphical user interface design.</a:t>
            </a:r>
            <a:br>
              <a:rPr lang="en-US" dirty="0" smtClean="0"/>
            </a:br>
            <a:r>
              <a:rPr lang="en-US" dirty="0" smtClean="0"/>
              <a:t>Another objective is to implement real-time game mechanics using timers, where objects move continuously and respond to user input. The game also focuses on improving logical thinking by handling collision detection and dynamic difficulty levels.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Tools</a:t>
            </a:r>
            <a:endParaRPr sz="1700">
              <a:latin typeface="Trebuchet MS"/>
              <a:cs typeface="Trebuchet MS"/>
            </a:endParaRPr>
          </a:p>
        </p:txBody>
      </p:sp>
      <p:sp>
        <p:nvSpPr>
          <p:cNvPr id="4" name="TextBox 3"/>
          <p:cNvSpPr txBox="1"/>
          <p:nvPr/>
        </p:nvSpPr>
        <p:spPr>
          <a:xfrm>
            <a:off x="762000" y="1676400"/>
            <a:ext cx="10134600" cy="4662815"/>
          </a:xfrm>
          <a:prstGeom prst="rect">
            <a:avLst/>
          </a:prstGeom>
          <a:noFill/>
        </p:spPr>
        <p:txBody>
          <a:bodyPr wrap="square" rtlCol="0">
            <a:spAutoFit/>
          </a:bodyPr>
          <a:lstStyle/>
          <a:p>
            <a:pPr>
              <a:lnSpc>
                <a:spcPct val="150000"/>
              </a:lnSpc>
            </a:pPr>
            <a:r>
              <a:rPr lang="en-US" b="1" dirty="0" smtClean="0"/>
              <a:t>Tools &amp; Technologies</a:t>
            </a:r>
          </a:p>
          <a:p>
            <a:pPr>
              <a:lnSpc>
                <a:spcPct val="150000"/>
              </a:lnSpc>
            </a:pPr>
            <a:r>
              <a:rPr lang="en-US" dirty="0" smtClean="0"/>
              <a:t>The Car Racing Game is developed using modern programming tools and technologies that support graphical interface design and application development.</a:t>
            </a:r>
          </a:p>
          <a:p>
            <a:pPr>
              <a:lnSpc>
                <a:spcPct val="150000"/>
              </a:lnSpc>
            </a:pPr>
            <a:r>
              <a:rPr lang="en-US" dirty="0" smtClean="0"/>
              <a:t>The primary programming language used is C#, which is widely used for developing Windows-based applications. The project is built on the .NET Framework, which provides essential libraries for GUI development and event handling.</a:t>
            </a:r>
          </a:p>
          <a:p>
            <a:pPr>
              <a:lnSpc>
                <a:spcPct val="150000"/>
              </a:lnSpc>
            </a:pPr>
            <a:r>
              <a:rPr lang="en-US" dirty="0" smtClean="0"/>
              <a:t>The development environment used is Microsoft Visual Studio, which offers features like code editing, debugging, and project management.</a:t>
            </a:r>
          </a:p>
          <a:p>
            <a:pPr>
              <a:lnSpc>
                <a:spcPct val="150000"/>
              </a:lnSpc>
            </a:pPr>
            <a:r>
              <a:rPr lang="en-US" dirty="0" smtClean="0"/>
              <a:t>For database functionality (optional), </a:t>
            </a:r>
            <a:r>
              <a:rPr lang="en-US" dirty="0" err="1" smtClean="0"/>
              <a:t>MySQL</a:t>
            </a:r>
            <a:r>
              <a:rPr lang="en-US" dirty="0" smtClean="0"/>
              <a:t> is used to store and manage high scores, allowing data persistence and retrieval.</a:t>
            </a:r>
          </a:p>
          <a:p>
            <a:pPr>
              <a:lnSpc>
                <a:spcPct val="150000"/>
              </a:lnSpc>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System Overview</a:t>
            </a:r>
            <a:endParaRPr sz="1700">
              <a:latin typeface="Trebuchet MS"/>
              <a:cs typeface="Trebuchet MS"/>
            </a:endParaRPr>
          </a:p>
        </p:txBody>
      </p:sp>
      <p:sp>
        <p:nvSpPr>
          <p:cNvPr id="4" name="TextBox 3"/>
          <p:cNvSpPr txBox="1"/>
          <p:nvPr/>
        </p:nvSpPr>
        <p:spPr>
          <a:xfrm>
            <a:off x="609600" y="1752600"/>
            <a:ext cx="9982200" cy="4108817"/>
          </a:xfrm>
          <a:prstGeom prst="rect">
            <a:avLst/>
          </a:prstGeom>
          <a:noFill/>
        </p:spPr>
        <p:txBody>
          <a:bodyPr wrap="square" rtlCol="0">
            <a:spAutoFit/>
          </a:bodyPr>
          <a:lstStyle/>
          <a:p>
            <a:pPr>
              <a:lnSpc>
                <a:spcPct val="150000"/>
              </a:lnSpc>
            </a:pPr>
            <a:r>
              <a:rPr lang="en-US" b="1" dirty="0" smtClean="0"/>
              <a:t>System Overview</a:t>
            </a:r>
          </a:p>
          <a:p>
            <a:pPr>
              <a:lnSpc>
                <a:spcPct val="150000"/>
              </a:lnSpc>
            </a:pPr>
            <a:r>
              <a:rPr lang="en-US" dirty="0" smtClean="0"/>
              <a:t>The Car Racing Game is a desktop-based application developed using C# and Windows Forms that provides an interactive gaming experience. The system is designed to simulate a simple racing environment where the player controls a car and avoids collisions with enemy vehicles.</a:t>
            </a:r>
            <a:br>
              <a:rPr lang="en-US" dirty="0" smtClean="0"/>
            </a:br>
            <a:endParaRPr lang="en-US" dirty="0" smtClean="0"/>
          </a:p>
          <a:p>
            <a:pPr>
              <a:lnSpc>
                <a:spcPct val="150000"/>
              </a:lnSpc>
            </a:pPr>
            <a:r>
              <a:rPr lang="en-US" dirty="0" smtClean="0"/>
              <a:t>The game begins with a welcome screen, followed by mode selection. Once the game starts, the player can control the car using keyboard inputs, while enemy cars move automatically from the top of the screen toward the bottom. The system continuously updates the position of all game elements using a timer, creating a smooth animation effect.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User interface</a:t>
            </a:r>
            <a:endParaRPr sz="1700">
              <a:latin typeface="Trebuchet MS"/>
              <a:cs typeface="Trebuchet MS"/>
            </a:endParaRPr>
          </a:p>
        </p:txBody>
      </p:sp>
      <p:sp>
        <p:nvSpPr>
          <p:cNvPr id="4" name="TextBox 3"/>
          <p:cNvSpPr txBox="1"/>
          <p:nvPr/>
        </p:nvSpPr>
        <p:spPr>
          <a:xfrm>
            <a:off x="609600" y="1600200"/>
            <a:ext cx="10363200" cy="5078313"/>
          </a:xfrm>
          <a:prstGeom prst="rect">
            <a:avLst/>
          </a:prstGeom>
          <a:noFill/>
        </p:spPr>
        <p:txBody>
          <a:bodyPr wrap="square" rtlCol="0">
            <a:spAutoFit/>
          </a:bodyPr>
          <a:lstStyle/>
          <a:p>
            <a:pPr>
              <a:lnSpc>
                <a:spcPct val="150000"/>
              </a:lnSpc>
            </a:pPr>
            <a:r>
              <a:rPr lang="en-US" b="1" dirty="0" smtClean="0"/>
              <a:t>User Interface</a:t>
            </a:r>
          </a:p>
          <a:p>
            <a:pPr>
              <a:lnSpc>
                <a:spcPct val="150000"/>
              </a:lnSpc>
            </a:pPr>
            <a:r>
              <a:rPr lang="en-US" dirty="0" smtClean="0"/>
              <a:t>The user interface of the Car Racing Game is designed to be simple, interactive, and easy to use. It consists of multiple screens that guide the user through the </a:t>
            </a:r>
            <a:r>
              <a:rPr lang="en-US" dirty="0" err="1" smtClean="0"/>
              <a:t>gameplay</a:t>
            </a:r>
            <a:r>
              <a:rPr lang="en-US" dirty="0" smtClean="0"/>
              <a:t> process.</a:t>
            </a:r>
          </a:p>
          <a:p>
            <a:pPr>
              <a:lnSpc>
                <a:spcPct val="150000"/>
              </a:lnSpc>
            </a:pPr>
            <a:r>
              <a:rPr lang="en-US" dirty="0" smtClean="0"/>
              <a:t>The game starts with a welcome screen that displays the title of the game along with a start button. This screen uses a dark theme to create an attractive and focused entry point for the user.</a:t>
            </a:r>
          </a:p>
          <a:p>
            <a:pPr>
              <a:lnSpc>
                <a:spcPct val="150000"/>
              </a:lnSpc>
            </a:pPr>
            <a:r>
              <a:rPr lang="en-US" dirty="0" smtClean="0"/>
              <a:t>After starting the game, the main game screen appears with a light theme. It displays the road background, player car, enemy cars, and the score label. The player can control the car using keyboard keys, making the interaction smooth and responsive.</a:t>
            </a:r>
          </a:p>
          <a:p>
            <a:pPr>
              <a:lnSpc>
                <a:spcPct val="150000"/>
              </a:lnSpc>
            </a:pPr>
            <a:r>
              <a:rPr lang="en-US" dirty="0" smtClean="0"/>
              <a:t>Buttons and labels are used effectively to provide information such as score, game status, and options like restart or exit. The interface updates in real-time, ensuring that the </a:t>
            </a:r>
            <a:r>
              <a:rPr lang="en-US" dirty="0" err="1" smtClean="0"/>
              <a:t>gameplay</a:t>
            </a:r>
            <a:r>
              <a:rPr lang="en-US" dirty="0" smtClean="0"/>
              <a:t> feels dynamic and engaging.</a:t>
            </a:r>
          </a:p>
          <a:p>
            <a:pPr>
              <a:lnSpc>
                <a:spcPct val="150000"/>
              </a:lnSpc>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74434"/>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Game Components</a:t>
            </a:r>
            <a:endParaRPr sz="1700">
              <a:latin typeface="Trebuchet MS"/>
              <a:cs typeface="Trebuchet MS"/>
            </a:endParaRPr>
          </a:p>
        </p:txBody>
      </p:sp>
      <p:sp>
        <p:nvSpPr>
          <p:cNvPr id="4" name="TextBox 3"/>
          <p:cNvSpPr txBox="1"/>
          <p:nvPr/>
        </p:nvSpPr>
        <p:spPr>
          <a:xfrm>
            <a:off x="685800" y="1676400"/>
            <a:ext cx="10515600" cy="5078313"/>
          </a:xfrm>
          <a:prstGeom prst="rect">
            <a:avLst/>
          </a:prstGeom>
          <a:noFill/>
        </p:spPr>
        <p:txBody>
          <a:bodyPr wrap="square" rtlCol="0">
            <a:spAutoFit/>
          </a:bodyPr>
          <a:lstStyle/>
          <a:p>
            <a:pPr>
              <a:lnSpc>
                <a:spcPct val="150000"/>
              </a:lnSpc>
            </a:pPr>
            <a:r>
              <a:rPr lang="en-US" b="1" dirty="0" smtClean="0"/>
              <a:t>Game Components</a:t>
            </a:r>
          </a:p>
          <a:p>
            <a:pPr>
              <a:lnSpc>
                <a:spcPct val="150000"/>
              </a:lnSpc>
            </a:pPr>
            <a:r>
              <a:rPr lang="en-US" dirty="0" smtClean="0"/>
              <a:t>The Car Racing Game consists of several key components that work together to create an interactive </a:t>
            </a:r>
            <a:r>
              <a:rPr lang="en-US" dirty="0" err="1" smtClean="0"/>
              <a:t>gameplay</a:t>
            </a:r>
            <a:r>
              <a:rPr lang="en-US" dirty="0" smtClean="0"/>
              <a:t> experience.</a:t>
            </a:r>
          </a:p>
          <a:p>
            <a:pPr>
              <a:lnSpc>
                <a:spcPct val="150000"/>
              </a:lnSpc>
            </a:pPr>
            <a:r>
              <a:rPr lang="en-US" dirty="0" smtClean="0"/>
              <a:t>The player car is the main component controlled by the user using keyboard inputs. It can move left and right within the boundaries of the road.</a:t>
            </a:r>
          </a:p>
          <a:p>
            <a:pPr>
              <a:lnSpc>
                <a:spcPct val="150000"/>
              </a:lnSpc>
            </a:pPr>
            <a:r>
              <a:rPr lang="en-US" dirty="0" smtClean="0"/>
              <a:t>Enemy cars act as obstacles in the game. They move continuously from the top of the screen toward the bottom and reappear at random positions after leaving the screen.</a:t>
            </a:r>
          </a:p>
          <a:p>
            <a:pPr>
              <a:lnSpc>
                <a:spcPct val="150000"/>
              </a:lnSpc>
            </a:pPr>
            <a:r>
              <a:rPr lang="en-US" dirty="0" smtClean="0"/>
              <a:t>The road serves as the background of the game, providing a visual representation of the racing track. It enhances the overall appearance and realism of the game.</a:t>
            </a:r>
          </a:p>
          <a:p>
            <a:pPr>
              <a:lnSpc>
                <a:spcPct val="150000"/>
              </a:lnSpc>
            </a:pPr>
            <a:r>
              <a:rPr lang="en-US" dirty="0" smtClean="0"/>
              <a:t>A timer is used to control the game loop, which updates the position of all objects and ensures smooth animation.</a:t>
            </a:r>
          </a:p>
          <a:p>
            <a:pPr>
              <a:lnSpc>
                <a:spcPct val="150000"/>
              </a:lnSpc>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Game Logic</a:t>
            </a:r>
            <a:endParaRPr sz="1700">
              <a:latin typeface="Trebuchet MS"/>
              <a:cs typeface="Trebuchet MS"/>
            </a:endParaRPr>
          </a:p>
        </p:txBody>
      </p:sp>
      <p:sp>
        <p:nvSpPr>
          <p:cNvPr id="4" name="TextBox 3"/>
          <p:cNvSpPr txBox="1"/>
          <p:nvPr/>
        </p:nvSpPr>
        <p:spPr>
          <a:xfrm>
            <a:off x="609600" y="1524000"/>
            <a:ext cx="10896600" cy="5493812"/>
          </a:xfrm>
          <a:prstGeom prst="rect">
            <a:avLst/>
          </a:prstGeom>
          <a:noFill/>
        </p:spPr>
        <p:txBody>
          <a:bodyPr wrap="square" rtlCol="0">
            <a:spAutoFit/>
          </a:bodyPr>
          <a:lstStyle/>
          <a:p>
            <a:pPr>
              <a:lnSpc>
                <a:spcPct val="150000"/>
              </a:lnSpc>
            </a:pPr>
            <a:r>
              <a:rPr lang="en-US" b="1" dirty="0" smtClean="0"/>
              <a:t>Game Logic</a:t>
            </a:r>
          </a:p>
          <a:p>
            <a:pPr>
              <a:lnSpc>
                <a:spcPct val="150000"/>
              </a:lnSpc>
            </a:pPr>
            <a:r>
              <a:rPr lang="en-US" dirty="0" smtClean="0"/>
              <a:t>The game logic of the Car Racing Game controls how the game functions and responds to user actions. It is mainly handled through a timer that continuously runs in the background, updating the position of all game elements.</a:t>
            </a:r>
          </a:p>
          <a:p>
            <a:pPr>
              <a:lnSpc>
                <a:spcPct val="150000"/>
              </a:lnSpc>
            </a:pPr>
            <a:r>
              <a:rPr lang="en-US" dirty="0" smtClean="0"/>
              <a:t>When the game starts, the timer begins executing at regular intervals, creating a game loop. In each cycle, the positions of the player car, enemy cars, and road elements are updated to simulate movement.</a:t>
            </a:r>
          </a:p>
          <a:p>
            <a:pPr>
              <a:lnSpc>
                <a:spcPct val="150000"/>
              </a:lnSpc>
            </a:pPr>
            <a:r>
              <a:rPr lang="en-US" dirty="0" smtClean="0"/>
              <a:t>The player controls the car using keyboard inputs, allowing it to move left or right within the game boundaries. At the same time, enemy cars move downward automatically, creating obstacles for the player.</a:t>
            </a:r>
          </a:p>
          <a:p>
            <a:pPr>
              <a:lnSpc>
                <a:spcPct val="150000"/>
              </a:lnSpc>
            </a:pPr>
            <a:r>
              <a:rPr lang="en-US" dirty="0" smtClean="0"/>
              <a:t>The speed of the game increases gradually as the score increases, making the game more challenging over time. The system also checks for collisions between the player car and enemy cars during each update.</a:t>
            </a:r>
          </a:p>
          <a:p>
            <a:pPr>
              <a:lnSpc>
                <a:spcPct val="150000"/>
              </a:lnSpc>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Collision Detection</a:t>
            </a:r>
            <a:endParaRPr sz="1700">
              <a:latin typeface="Trebuchet MS"/>
              <a:cs typeface="Trebuchet MS"/>
            </a:endParaRPr>
          </a:p>
        </p:txBody>
      </p:sp>
      <p:sp>
        <p:nvSpPr>
          <p:cNvPr id="4" name="TextBox 3"/>
          <p:cNvSpPr txBox="1"/>
          <p:nvPr/>
        </p:nvSpPr>
        <p:spPr>
          <a:xfrm>
            <a:off x="685800" y="1600200"/>
            <a:ext cx="10896600" cy="4524315"/>
          </a:xfrm>
          <a:prstGeom prst="rect">
            <a:avLst/>
          </a:prstGeom>
          <a:noFill/>
        </p:spPr>
        <p:txBody>
          <a:bodyPr wrap="square" rtlCol="0">
            <a:spAutoFit/>
          </a:bodyPr>
          <a:lstStyle/>
          <a:p>
            <a:pPr>
              <a:lnSpc>
                <a:spcPct val="150000"/>
              </a:lnSpc>
            </a:pPr>
            <a:r>
              <a:rPr lang="en-US" b="1" dirty="0" smtClean="0"/>
              <a:t>Collision Detection</a:t>
            </a:r>
          </a:p>
          <a:p>
            <a:pPr>
              <a:lnSpc>
                <a:spcPct val="150000"/>
              </a:lnSpc>
            </a:pPr>
            <a:r>
              <a:rPr lang="en-US" dirty="0" smtClean="0"/>
              <a:t>Collision detection is an important part of the Car Racing Game that determines when the player loses the game. It is used to check whether the player’s car comes into contact with any of the enemy cars.</a:t>
            </a:r>
          </a:p>
          <a:p>
            <a:pPr>
              <a:lnSpc>
                <a:spcPct val="150000"/>
              </a:lnSpc>
            </a:pPr>
            <a:r>
              <a:rPr lang="en-US" dirty="0" smtClean="0"/>
              <a:t>In this game, collision detection is implemented by continuously checking the boundaries of the player car and enemy cars during each cycle of the game loop. If the rectangular area (bounds) of the player car intersects with the bounds of any enemy car, a collision is detected.</a:t>
            </a:r>
          </a:p>
          <a:p>
            <a:pPr>
              <a:lnSpc>
                <a:spcPct val="150000"/>
              </a:lnSpc>
            </a:pPr>
            <a:r>
              <a:rPr lang="en-US" dirty="0" smtClean="0"/>
              <a:t>When a collision occurs, the game immediately stops, and a “Game Over” message is displayed on the screen. The player is then given an option to restart the game or exit the application.</a:t>
            </a:r>
          </a:p>
          <a:p>
            <a:pPr>
              <a:lnSpc>
                <a:spcPct val="150000"/>
              </a:lnSpc>
            </a:pPr>
            <a:r>
              <a:rPr lang="en-US" dirty="0" smtClean="0"/>
              <a:t>This mechanism ensures fair </a:t>
            </a:r>
            <a:r>
              <a:rPr lang="en-US" dirty="0" err="1" smtClean="0"/>
              <a:t>gameplay</a:t>
            </a:r>
            <a:r>
              <a:rPr lang="en-US" dirty="0" smtClean="0"/>
              <a:t> and adds challenge, as the player must carefully control the car to avoid obstacles.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Score System</a:t>
            </a:r>
            <a:endParaRPr sz="1700">
              <a:latin typeface="Trebuchet MS"/>
              <a:cs typeface="Trebuchet MS"/>
            </a:endParaRPr>
          </a:p>
        </p:txBody>
      </p:sp>
      <p:sp>
        <p:nvSpPr>
          <p:cNvPr id="4" name="TextBox 3"/>
          <p:cNvSpPr txBox="1"/>
          <p:nvPr/>
        </p:nvSpPr>
        <p:spPr>
          <a:xfrm>
            <a:off x="685800" y="1676400"/>
            <a:ext cx="10972800" cy="4662815"/>
          </a:xfrm>
          <a:prstGeom prst="rect">
            <a:avLst/>
          </a:prstGeom>
          <a:noFill/>
        </p:spPr>
        <p:txBody>
          <a:bodyPr wrap="square" rtlCol="0">
            <a:spAutoFit/>
          </a:bodyPr>
          <a:lstStyle/>
          <a:p>
            <a:pPr>
              <a:lnSpc>
                <a:spcPct val="150000"/>
              </a:lnSpc>
            </a:pPr>
            <a:r>
              <a:rPr lang="en-US" b="1" dirty="0" smtClean="0"/>
              <a:t>Score System</a:t>
            </a:r>
          </a:p>
          <a:p>
            <a:pPr>
              <a:lnSpc>
                <a:spcPct val="150000"/>
              </a:lnSpc>
            </a:pPr>
            <a:r>
              <a:rPr lang="en-US" dirty="0"/>
              <a:t>The score system in the Car Racing Game is designed to track and display the player's performance throughout the </a:t>
            </a:r>
            <a:r>
              <a:rPr lang="en-US" dirty="0" err="1"/>
              <a:t>gameplay</a:t>
            </a:r>
            <a:r>
              <a:rPr lang="en-US" dirty="0"/>
              <a:t>. It serves as a primary measure of success and encourages players to survive longer.</a:t>
            </a:r>
          </a:p>
          <a:p>
            <a:pPr>
              <a:lnSpc>
                <a:spcPct val="150000"/>
              </a:lnSpc>
            </a:pPr>
            <a:r>
              <a:rPr lang="en-US" dirty="0"/>
              <a:t>When the game starts, the score begins at zero. As time progresses and the game loop continues to run, the score increases automatically at regular intervals. This means the longer the player avoids collisions with enemy cars, the higher the score becomes.</a:t>
            </a:r>
          </a:p>
          <a:p>
            <a:pPr>
              <a:lnSpc>
                <a:spcPct val="150000"/>
              </a:lnSpc>
            </a:pPr>
            <a:r>
              <a:rPr lang="en-US" dirty="0"/>
              <a:t>The current score is displayed on the screen in real-time using a label control, allowing the player to see their performance instantly. The score value updates continuously during the game loop, providing immediate feedback.</a:t>
            </a:r>
          </a:p>
          <a:p>
            <a:pPr>
              <a:lnSpc>
                <a:spcPct val="150000"/>
              </a:lnSpc>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Database</a:t>
            </a:r>
            <a:endParaRPr sz="1700">
              <a:latin typeface="Trebuchet MS"/>
              <a:cs typeface="Trebuchet MS"/>
            </a:endParaRPr>
          </a:p>
        </p:txBody>
      </p:sp>
      <p:sp>
        <p:nvSpPr>
          <p:cNvPr id="4" name="TextBox 3"/>
          <p:cNvSpPr txBox="1"/>
          <p:nvPr/>
        </p:nvSpPr>
        <p:spPr>
          <a:xfrm>
            <a:off x="762000" y="2057400"/>
            <a:ext cx="9067800" cy="3693319"/>
          </a:xfrm>
          <a:prstGeom prst="rect">
            <a:avLst/>
          </a:prstGeom>
          <a:noFill/>
        </p:spPr>
        <p:txBody>
          <a:bodyPr wrap="square" rtlCol="0">
            <a:spAutoFit/>
          </a:bodyPr>
          <a:lstStyle/>
          <a:p>
            <a:pPr>
              <a:lnSpc>
                <a:spcPct val="150000"/>
              </a:lnSpc>
            </a:pPr>
            <a:r>
              <a:rPr lang="en-US" b="1" dirty="0" smtClean="0"/>
              <a:t>Database </a:t>
            </a:r>
          </a:p>
          <a:p>
            <a:pPr>
              <a:lnSpc>
                <a:spcPct val="150000"/>
              </a:lnSpc>
            </a:pPr>
            <a:r>
              <a:rPr lang="en-US" dirty="0"/>
              <a:t>The Car Racing Game includes an optional database feature to store and manage player scores permanently. This adds a competitive element to the game by allowing players to compare their performance with others.</a:t>
            </a:r>
          </a:p>
          <a:p>
            <a:pPr>
              <a:lnSpc>
                <a:spcPct val="150000"/>
              </a:lnSpc>
            </a:pPr>
            <a:r>
              <a:rPr lang="en-US" dirty="0" smtClean="0"/>
              <a:t> </a:t>
            </a:r>
            <a:r>
              <a:rPr lang="en-US" b="1" dirty="0"/>
              <a:t>Database Technology</a:t>
            </a:r>
          </a:p>
          <a:p>
            <a:pPr>
              <a:lnSpc>
                <a:spcPct val="150000"/>
              </a:lnSpc>
            </a:pPr>
            <a:r>
              <a:rPr lang="en-US" b="1" dirty="0"/>
              <a:t>Database System:</a:t>
            </a:r>
            <a:r>
              <a:rPr lang="en-US" dirty="0"/>
              <a:t> </a:t>
            </a:r>
            <a:r>
              <a:rPr lang="en-US" dirty="0" err="1"/>
              <a:t>MySQL</a:t>
            </a:r>
            <a:r>
              <a:rPr lang="en-US" dirty="0"/>
              <a:t> Server</a:t>
            </a:r>
          </a:p>
          <a:p>
            <a:pPr>
              <a:lnSpc>
                <a:spcPct val="150000"/>
              </a:lnSpc>
            </a:pPr>
            <a:r>
              <a:rPr lang="en-US" b="1" dirty="0"/>
              <a:t>Connector:</a:t>
            </a:r>
            <a:r>
              <a:rPr lang="en-US" dirty="0"/>
              <a:t> </a:t>
            </a:r>
            <a:r>
              <a:rPr lang="en-US" dirty="0" err="1"/>
              <a:t>MySql.Data</a:t>
            </a:r>
            <a:r>
              <a:rPr lang="en-US" dirty="0"/>
              <a:t> (Oracle Official Connector)</a:t>
            </a:r>
          </a:p>
          <a:p>
            <a:pPr>
              <a:lnSpc>
                <a:spcPct val="150000"/>
              </a:lnSpc>
            </a:pPr>
            <a:r>
              <a:rPr lang="en-US" b="1" dirty="0"/>
              <a:t>Language:</a:t>
            </a:r>
            <a:r>
              <a:rPr lang="en-US" dirty="0"/>
              <a:t> SQL (Structured Query Language)</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74434"/>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Features</a:t>
            </a:r>
          </a:p>
        </p:txBody>
      </p:sp>
      <p:sp>
        <p:nvSpPr>
          <p:cNvPr id="4" name="TextBox 3"/>
          <p:cNvSpPr txBox="1"/>
          <p:nvPr/>
        </p:nvSpPr>
        <p:spPr>
          <a:xfrm>
            <a:off x="685800" y="1600200"/>
            <a:ext cx="9906000" cy="5078313"/>
          </a:xfrm>
          <a:prstGeom prst="rect">
            <a:avLst/>
          </a:prstGeom>
          <a:noFill/>
        </p:spPr>
        <p:txBody>
          <a:bodyPr wrap="square" rtlCol="0">
            <a:spAutoFit/>
          </a:bodyPr>
          <a:lstStyle/>
          <a:p>
            <a:pPr>
              <a:lnSpc>
                <a:spcPct val="150000"/>
              </a:lnSpc>
            </a:pPr>
            <a:r>
              <a:rPr lang="en-US" b="1" dirty="0" smtClean="0"/>
              <a:t>Features</a:t>
            </a:r>
          </a:p>
          <a:p>
            <a:pPr>
              <a:lnSpc>
                <a:spcPct val="150000"/>
              </a:lnSpc>
            </a:pPr>
            <a:r>
              <a:rPr lang="en-US" b="1" dirty="0"/>
              <a:t>Keyboard Controls</a:t>
            </a:r>
            <a:r>
              <a:rPr lang="en-US" dirty="0"/>
              <a:t> – Use Left/Right arrows to move the car</a:t>
            </a:r>
          </a:p>
          <a:p>
            <a:pPr>
              <a:lnSpc>
                <a:spcPct val="150000"/>
              </a:lnSpc>
            </a:pPr>
            <a:r>
              <a:rPr lang="en-US" b="1" dirty="0"/>
              <a:t>Real-Time </a:t>
            </a:r>
            <a:r>
              <a:rPr lang="en-US" b="1" dirty="0" err="1"/>
              <a:t>Gameplay</a:t>
            </a:r>
            <a:r>
              <a:rPr lang="en-US" dirty="0"/>
              <a:t> – Cars move continuously using a timer</a:t>
            </a:r>
          </a:p>
          <a:p>
            <a:pPr>
              <a:lnSpc>
                <a:spcPct val="150000"/>
              </a:lnSpc>
            </a:pPr>
            <a:r>
              <a:rPr lang="en-US" b="1" dirty="0"/>
              <a:t>Score System</a:t>
            </a:r>
            <a:r>
              <a:rPr lang="en-US" dirty="0"/>
              <a:t> – Score increases automatically as you survive</a:t>
            </a:r>
          </a:p>
          <a:p>
            <a:pPr>
              <a:lnSpc>
                <a:spcPct val="150000"/>
              </a:lnSpc>
            </a:pPr>
            <a:r>
              <a:rPr lang="en-US" b="1" dirty="0"/>
              <a:t>Collision Detection</a:t>
            </a:r>
            <a:r>
              <a:rPr lang="en-US" dirty="0"/>
              <a:t> – Game ends when player hits enemy car</a:t>
            </a:r>
          </a:p>
          <a:p>
            <a:pPr>
              <a:lnSpc>
                <a:spcPct val="150000"/>
              </a:lnSpc>
            </a:pPr>
            <a:r>
              <a:rPr lang="en-US" b="1" dirty="0"/>
              <a:t>Restart Option</a:t>
            </a:r>
            <a:r>
              <a:rPr lang="en-US" dirty="0"/>
              <a:t> – Play again without closing the game</a:t>
            </a:r>
          </a:p>
          <a:p>
            <a:pPr>
              <a:lnSpc>
                <a:spcPct val="150000"/>
              </a:lnSpc>
            </a:pPr>
            <a:r>
              <a:rPr lang="en-US" b="1" dirty="0"/>
              <a:t>Dynamic Difficulty</a:t>
            </a:r>
            <a:r>
              <a:rPr lang="en-US" dirty="0"/>
              <a:t> – Game speed increases with score</a:t>
            </a:r>
          </a:p>
          <a:p>
            <a:pPr>
              <a:lnSpc>
                <a:spcPct val="150000"/>
              </a:lnSpc>
            </a:pPr>
            <a:r>
              <a:rPr lang="en-US" b="1" dirty="0"/>
              <a:t>Road Background</a:t>
            </a:r>
            <a:r>
              <a:rPr lang="en-US" dirty="0"/>
              <a:t> – Realistic racing track image</a:t>
            </a:r>
          </a:p>
          <a:p>
            <a:pPr>
              <a:lnSpc>
                <a:spcPct val="150000"/>
              </a:lnSpc>
            </a:pPr>
            <a:r>
              <a:rPr lang="en-US" b="1" dirty="0"/>
              <a:t>Custom Car Images</a:t>
            </a:r>
            <a:r>
              <a:rPr lang="en-US" dirty="0"/>
              <a:t> – Player and enemy cars with graphics</a:t>
            </a:r>
          </a:p>
          <a:p>
            <a:pPr>
              <a:lnSpc>
                <a:spcPct val="150000"/>
              </a:lnSpc>
            </a:pPr>
            <a:r>
              <a:rPr lang="en-US" b="1" dirty="0"/>
              <a:t>Dark &amp; Light Themes</a:t>
            </a:r>
            <a:r>
              <a:rPr lang="en-US" dirty="0"/>
              <a:t> – Welcome screen (dark), Game screen (light)</a:t>
            </a:r>
          </a:p>
          <a:p>
            <a:pPr>
              <a:lnSpc>
                <a:spcPct val="150000"/>
              </a:lnSpc>
            </a:pPr>
            <a:r>
              <a:rPr lang="en-US" b="1" dirty="0"/>
              <a:t>High Score Database</a:t>
            </a:r>
            <a:r>
              <a:rPr lang="en-US" dirty="0"/>
              <a:t> (Optional) – Saves top scores using </a:t>
            </a:r>
            <a:r>
              <a:rPr lang="en-US" dirty="0" err="1"/>
              <a:t>MySQL</a:t>
            </a:r>
            <a:endParaRPr lang="en-US" dirty="0"/>
          </a:p>
          <a:p>
            <a:pPr>
              <a:lnSpc>
                <a:spcPct val="150000"/>
              </a:lnSpc>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74434"/>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Advantages</a:t>
            </a:r>
          </a:p>
        </p:txBody>
      </p:sp>
      <p:sp>
        <p:nvSpPr>
          <p:cNvPr id="4" name="TextBox 3"/>
          <p:cNvSpPr txBox="1"/>
          <p:nvPr/>
        </p:nvSpPr>
        <p:spPr>
          <a:xfrm>
            <a:off x="533400" y="1524000"/>
            <a:ext cx="10591800" cy="5027017"/>
          </a:xfrm>
          <a:prstGeom prst="rect">
            <a:avLst/>
          </a:prstGeom>
          <a:noFill/>
        </p:spPr>
        <p:txBody>
          <a:bodyPr wrap="square" rtlCol="0">
            <a:spAutoFit/>
          </a:bodyPr>
          <a:lstStyle/>
          <a:p>
            <a:pPr>
              <a:lnSpc>
                <a:spcPct val="150000"/>
              </a:lnSpc>
            </a:pPr>
            <a:r>
              <a:rPr lang="en-US" b="1" dirty="0" smtClean="0"/>
              <a:t>Advantages</a:t>
            </a:r>
          </a:p>
          <a:p>
            <a:pPr>
              <a:lnSpc>
                <a:spcPct val="150000"/>
              </a:lnSpc>
            </a:pPr>
            <a:r>
              <a:rPr lang="en-US" b="1" dirty="0"/>
              <a:t>Easy to Use</a:t>
            </a:r>
            <a:r>
              <a:rPr lang="en-US" dirty="0"/>
              <a:t> – Simple keyboard controls, anyone can play</a:t>
            </a:r>
          </a:p>
          <a:p>
            <a:pPr>
              <a:lnSpc>
                <a:spcPct val="150000"/>
              </a:lnSpc>
            </a:pPr>
            <a:r>
              <a:rPr lang="en-US" b="1" dirty="0"/>
              <a:t>Beginner Friendly</a:t>
            </a:r>
            <a:r>
              <a:rPr lang="en-US" dirty="0"/>
              <a:t> – Great project for learning C# and Windows Forms</a:t>
            </a:r>
          </a:p>
          <a:p>
            <a:pPr>
              <a:lnSpc>
                <a:spcPct val="150000"/>
              </a:lnSpc>
            </a:pPr>
            <a:r>
              <a:rPr lang="en-US" b="1" dirty="0"/>
              <a:t>Lightweight</a:t>
            </a:r>
            <a:r>
              <a:rPr lang="en-US" dirty="0"/>
              <a:t> – Runs smoothly on any computer</a:t>
            </a:r>
          </a:p>
          <a:p>
            <a:pPr>
              <a:lnSpc>
                <a:spcPct val="150000"/>
              </a:lnSpc>
            </a:pPr>
            <a:r>
              <a:rPr lang="en-US" b="1" dirty="0"/>
              <a:t>No Installation Needed</a:t>
            </a:r>
            <a:r>
              <a:rPr lang="en-US" dirty="0"/>
              <a:t> – Just run the .exe file</a:t>
            </a:r>
          </a:p>
          <a:p>
            <a:pPr>
              <a:lnSpc>
                <a:spcPct val="150000"/>
              </a:lnSpc>
            </a:pPr>
            <a:r>
              <a:rPr lang="en-US" b="1" dirty="0" err="1"/>
              <a:t>Replayable</a:t>
            </a:r>
            <a:r>
              <a:rPr lang="en-US" dirty="0"/>
              <a:t> – Restart option allows unlimited </a:t>
            </a:r>
            <a:r>
              <a:rPr lang="en-US" dirty="0" err="1"/>
              <a:t>gameplay</a:t>
            </a:r>
            <a:endParaRPr lang="en-US" dirty="0"/>
          </a:p>
          <a:p>
            <a:pPr>
              <a:lnSpc>
                <a:spcPct val="150000"/>
              </a:lnSpc>
            </a:pPr>
            <a:r>
              <a:rPr lang="en-US" b="1" dirty="0"/>
              <a:t>Skill Development</a:t>
            </a:r>
            <a:r>
              <a:rPr lang="en-US" dirty="0"/>
              <a:t> – Improves hand-eye coordination and reflexes</a:t>
            </a:r>
          </a:p>
          <a:p>
            <a:pPr>
              <a:lnSpc>
                <a:spcPct val="150000"/>
              </a:lnSpc>
            </a:pPr>
            <a:r>
              <a:rPr lang="en-US" b="1" dirty="0"/>
              <a:t>Customizable</a:t>
            </a:r>
            <a:r>
              <a:rPr lang="en-US" dirty="0"/>
              <a:t> – Easy to add new features, cars, or backgrounds</a:t>
            </a:r>
          </a:p>
          <a:p>
            <a:pPr>
              <a:lnSpc>
                <a:spcPct val="150000"/>
              </a:lnSpc>
            </a:pPr>
            <a:r>
              <a:rPr lang="en-US" b="1" dirty="0"/>
              <a:t>Data Persistence</a:t>
            </a:r>
            <a:r>
              <a:rPr lang="en-US" dirty="0"/>
              <a:t> (Optional) – Scores saved in database for </a:t>
            </a:r>
            <a:r>
              <a:rPr lang="en-US" dirty="0" err="1"/>
              <a:t>leaderboard</a:t>
            </a:r>
            <a:endParaRPr lang="en-US" dirty="0"/>
          </a:p>
          <a:p>
            <a:pPr>
              <a:lnSpc>
                <a:spcPct val="150000"/>
              </a:lnSpc>
            </a:pPr>
            <a:r>
              <a:rPr lang="en-US" b="1" dirty="0"/>
              <a:t>Visual Appeal</a:t>
            </a:r>
            <a:r>
              <a:rPr lang="en-US" dirty="0"/>
              <a:t> – Dark/Light themes and custom car images</a:t>
            </a:r>
          </a:p>
          <a:p>
            <a:pPr>
              <a:lnSpc>
                <a:spcPct val="150000"/>
              </a:lnSpc>
            </a:pPr>
            <a:r>
              <a:rPr lang="en-US" b="1" dirty="0"/>
              <a:t>Teaches Programming Concepts</a:t>
            </a:r>
            <a:r>
              <a:rPr lang="en-US" dirty="0"/>
              <a:t> – Timer, events, collision detection, GUI</a:t>
            </a:r>
          </a:p>
          <a:p>
            <a:pPr>
              <a:lnSpc>
                <a:spcPct val="150000"/>
              </a:lnSpc>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limitations</a:t>
            </a:r>
            <a:endParaRPr sz="1700">
              <a:latin typeface="Trebuchet MS"/>
              <a:cs typeface="Trebuchet MS"/>
            </a:endParaRPr>
          </a:p>
        </p:txBody>
      </p:sp>
      <p:sp>
        <p:nvSpPr>
          <p:cNvPr id="4" name="TextBox 3"/>
          <p:cNvSpPr txBox="1"/>
          <p:nvPr/>
        </p:nvSpPr>
        <p:spPr>
          <a:xfrm>
            <a:off x="685800" y="1676400"/>
            <a:ext cx="10058400" cy="4939814"/>
          </a:xfrm>
          <a:prstGeom prst="rect">
            <a:avLst/>
          </a:prstGeom>
          <a:noFill/>
        </p:spPr>
        <p:txBody>
          <a:bodyPr wrap="square" rtlCol="0">
            <a:spAutoFit/>
          </a:bodyPr>
          <a:lstStyle/>
          <a:p>
            <a:pPr>
              <a:lnSpc>
                <a:spcPct val="150000"/>
              </a:lnSpc>
            </a:pPr>
            <a:r>
              <a:rPr lang="en-US" b="1" dirty="0" smtClean="0"/>
              <a:t>Limitations</a:t>
            </a:r>
          </a:p>
          <a:p>
            <a:pPr>
              <a:lnSpc>
                <a:spcPct val="150000"/>
              </a:lnSpc>
            </a:pPr>
            <a:r>
              <a:rPr lang="en-US" b="1" dirty="0"/>
              <a:t>Basic Graphics</a:t>
            </a:r>
            <a:r>
              <a:rPr lang="en-US" dirty="0"/>
              <a:t> – No advanced 3D or special effects</a:t>
            </a:r>
          </a:p>
          <a:p>
            <a:pPr>
              <a:lnSpc>
                <a:spcPct val="150000"/>
              </a:lnSpc>
            </a:pPr>
            <a:r>
              <a:rPr lang="en-US" b="1" dirty="0"/>
              <a:t>No Sound Effects</a:t>
            </a:r>
            <a:r>
              <a:rPr lang="en-US" dirty="0"/>
              <a:t> – </a:t>
            </a:r>
            <a:r>
              <a:rPr lang="en-US" dirty="0" err="1"/>
              <a:t>Gameplay</a:t>
            </a:r>
            <a:r>
              <a:rPr lang="en-US" dirty="0"/>
              <a:t> is completely silent</a:t>
            </a:r>
          </a:p>
          <a:p>
            <a:pPr>
              <a:lnSpc>
                <a:spcPct val="150000"/>
              </a:lnSpc>
            </a:pPr>
            <a:r>
              <a:rPr lang="en-US" b="1" dirty="0"/>
              <a:t>Single Player Only</a:t>
            </a:r>
            <a:r>
              <a:rPr lang="en-US" dirty="0"/>
              <a:t> – No multiplayer or online mode</a:t>
            </a:r>
          </a:p>
          <a:p>
            <a:pPr>
              <a:lnSpc>
                <a:spcPct val="150000"/>
              </a:lnSpc>
            </a:pPr>
            <a:r>
              <a:rPr lang="en-US" b="1" dirty="0"/>
              <a:t>Limited Levels</a:t>
            </a:r>
            <a:r>
              <a:rPr lang="en-US" dirty="0"/>
              <a:t> – Endless </a:t>
            </a:r>
            <a:r>
              <a:rPr lang="en-US" dirty="0" err="1"/>
              <a:t>gameplay</a:t>
            </a:r>
            <a:r>
              <a:rPr lang="en-US" dirty="0"/>
              <a:t> with no stage progression</a:t>
            </a:r>
          </a:p>
          <a:p>
            <a:pPr>
              <a:lnSpc>
                <a:spcPct val="150000"/>
              </a:lnSpc>
            </a:pPr>
            <a:r>
              <a:rPr lang="en-US" b="1" dirty="0"/>
              <a:t>Simple AI</a:t>
            </a:r>
            <a:r>
              <a:rPr lang="en-US" dirty="0"/>
              <a:t> – Enemy cars only move straight down (no intelligent movement)</a:t>
            </a:r>
          </a:p>
          <a:p>
            <a:pPr>
              <a:lnSpc>
                <a:spcPct val="150000"/>
              </a:lnSpc>
            </a:pPr>
            <a:r>
              <a:rPr lang="en-US" b="1" dirty="0"/>
              <a:t>Fixed Screen Size</a:t>
            </a:r>
            <a:r>
              <a:rPr lang="en-US" dirty="0"/>
              <a:t> – Game window cannot be resized</a:t>
            </a:r>
          </a:p>
          <a:p>
            <a:pPr>
              <a:lnSpc>
                <a:spcPct val="150000"/>
              </a:lnSpc>
            </a:pPr>
            <a:r>
              <a:rPr lang="en-US" b="1" dirty="0"/>
              <a:t>No Power-Ups</a:t>
            </a:r>
            <a:r>
              <a:rPr lang="en-US" dirty="0"/>
              <a:t> – No boosts, shields, or special items</a:t>
            </a:r>
          </a:p>
          <a:p>
            <a:pPr>
              <a:lnSpc>
                <a:spcPct val="150000"/>
              </a:lnSpc>
            </a:pPr>
            <a:r>
              <a:rPr lang="en-US" b="1" dirty="0"/>
              <a:t>Basic Collision</a:t>
            </a:r>
            <a:r>
              <a:rPr lang="en-US" dirty="0"/>
              <a:t> – No gradual damage or multiple lives</a:t>
            </a:r>
          </a:p>
          <a:p>
            <a:pPr>
              <a:lnSpc>
                <a:spcPct val="150000"/>
              </a:lnSpc>
            </a:pPr>
            <a:r>
              <a:rPr lang="en-US" b="1" dirty="0"/>
              <a:t>Manual Image Setup</a:t>
            </a:r>
            <a:r>
              <a:rPr lang="en-US" dirty="0"/>
              <a:t> – Images must be placed in correct folder manually</a:t>
            </a:r>
          </a:p>
          <a:p>
            <a:pPr>
              <a:lnSpc>
                <a:spcPct val="150000"/>
              </a:lnSpc>
            </a:pPr>
            <a:r>
              <a:rPr lang="en-US" b="1" dirty="0"/>
              <a:t>Database Dependency</a:t>
            </a:r>
            <a:r>
              <a:rPr lang="en-US" dirty="0"/>
              <a:t> (Optional) – </a:t>
            </a:r>
            <a:r>
              <a:rPr lang="en-US" dirty="0" err="1"/>
              <a:t>MySQL</a:t>
            </a:r>
            <a:r>
              <a:rPr lang="en-US" dirty="0"/>
              <a:t> must be installed for score saving</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Future Enhancements </a:t>
            </a:r>
            <a:endParaRPr sz="1700">
              <a:latin typeface="Trebuchet MS"/>
              <a:cs typeface="Trebuchet MS"/>
            </a:endParaRPr>
          </a:p>
        </p:txBody>
      </p:sp>
      <p:sp>
        <p:nvSpPr>
          <p:cNvPr id="4" name="TextBox 3"/>
          <p:cNvSpPr txBox="1"/>
          <p:nvPr/>
        </p:nvSpPr>
        <p:spPr>
          <a:xfrm>
            <a:off x="914400" y="1676400"/>
            <a:ext cx="10439400" cy="5078313"/>
          </a:xfrm>
          <a:prstGeom prst="rect">
            <a:avLst/>
          </a:prstGeom>
          <a:noFill/>
        </p:spPr>
        <p:txBody>
          <a:bodyPr wrap="square" rtlCol="0">
            <a:spAutoFit/>
          </a:bodyPr>
          <a:lstStyle/>
          <a:p>
            <a:pPr>
              <a:lnSpc>
                <a:spcPct val="150000"/>
              </a:lnSpc>
            </a:pPr>
            <a:r>
              <a:rPr lang="en-US" b="1" dirty="0" smtClean="0"/>
              <a:t>Future Enhancements</a:t>
            </a:r>
          </a:p>
          <a:p>
            <a:pPr>
              <a:lnSpc>
                <a:spcPct val="150000"/>
              </a:lnSpc>
            </a:pPr>
            <a:r>
              <a:rPr lang="en-US" b="1" dirty="0"/>
              <a:t>Sound Effects</a:t>
            </a:r>
            <a:r>
              <a:rPr lang="en-US" dirty="0"/>
              <a:t> – Add engine sounds, collision noise, and background music</a:t>
            </a:r>
          </a:p>
          <a:p>
            <a:pPr>
              <a:lnSpc>
                <a:spcPct val="150000"/>
              </a:lnSpc>
            </a:pPr>
            <a:r>
              <a:rPr lang="en-US" b="1" dirty="0"/>
              <a:t>Multiple Levels</a:t>
            </a:r>
            <a:r>
              <a:rPr lang="en-US" dirty="0"/>
              <a:t> – Introduce different stages with increasing difficulty</a:t>
            </a:r>
          </a:p>
          <a:p>
            <a:pPr>
              <a:lnSpc>
                <a:spcPct val="150000"/>
              </a:lnSpc>
            </a:pPr>
            <a:r>
              <a:rPr lang="en-US" b="1" dirty="0"/>
              <a:t>Power-Ups</a:t>
            </a:r>
            <a:r>
              <a:rPr lang="en-US" dirty="0"/>
              <a:t> – Add speed boosts, shields, and extra lives</a:t>
            </a:r>
          </a:p>
          <a:p>
            <a:pPr>
              <a:lnSpc>
                <a:spcPct val="150000"/>
              </a:lnSpc>
            </a:pPr>
            <a:r>
              <a:rPr lang="en-US" b="1" dirty="0"/>
              <a:t>More Enemy Cars</a:t>
            </a:r>
            <a:r>
              <a:rPr lang="en-US" dirty="0"/>
              <a:t> – Increase number of obstacles for more challenge</a:t>
            </a:r>
          </a:p>
          <a:p>
            <a:pPr>
              <a:lnSpc>
                <a:spcPct val="150000"/>
              </a:lnSpc>
            </a:pPr>
            <a:r>
              <a:rPr lang="en-US" b="1" dirty="0"/>
              <a:t>Intelligent AI</a:t>
            </a:r>
            <a:r>
              <a:rPr lang="en-US" dirty="0"/>
              <a:t> – Enemy cars that change lanes to block the player</a:t>
            </a:r>
          </a:p>
          <a:p>
            <a:pPr>
              <a:lnSpc>
                <a:spcPct val="150000"/>
              </a:lnSpc>
            </a:pPr>
            <a:r>
              <a:rPr lang="en-US" b="1" dirty="0"/>
              <a:t>Online </a:t>
            </a:r>
            <a:r>
              <a:rPr lang="en-US" b="1" dirty="0" err="1"/>
              <a:t>Leaderboard</a:t>
            </a:r>
            <a:r>
              <a:rPr lang="en-US" dirty="0"/>
              <a:t> – Global ranking system using web database</a:t>
            </a:r>
          </a:p>
          <a:p>
            <a:pPr>
              <a:lnSpc>
                <a:spcPct val="150000"/>
              </a:lnSpc>
            </a:pPr>
            <a:r>
              <a:rPr lang="en-US" b="1" dirty="0"/>
              <a:t>Car Selection</a:t>
            </a:r>
            <a:r>
              <a:rPr lang="en-US" dirty="0"/>
              <a:t> – Allow player to choose different car colors/models</a:t>
            </a:r>
          </a:p>
          <a:p>
            <a:pPr>
              <a:lnSpc>
                <a:spcPct val="150000"/>
              </a:lnSpc>
            </a:pPr>
            <a:r>
              <a:rPr lang="en-US" b="1" dirty="0"/>
              <a:t>Weather Effects</a:t>
            </a:r>
            <a:r>
              <a:rPr lang="en-US" dirty="0"/>
              <a:t> – Add rain, fog, or night mode for variety</a:t>
            </a:r>
          </a:p>
          <a:p>
            <a:pPr>
              <a:lnSpc>
                <a:spcPct val="150000"/>
              </a:lnSpc>
            </a:pPr>
            <a:r>
              <a:rPr lang="en-US" b="1" dirty="0"/>
              <a:t>Mobile Version</a:t>
            </a:r>
            <a:r>
              <a:rPr lang="en-US" dirty="0"/>
              <a:t> – Convert to Android/</a:t>
            </a:r>
            <a:r>
              <a:rPr lang="en-US" dirty="0" err="1"/>
              <a:t>iOS</a:t>
            </a:r>
            <a:r>
              <a:rPr lang="en-US" dirty="0"/>
              <a:t> using </a:t>
            </a:r>
            <a:r>
              <a:rPr lang="en-US" dirty="0" err="1"/>
              <a:t>Xamarin</a:t>
            </a:r>
            <a:r>
              <a:rPr lang="en-US" dirty="0"/>
              <a:t> or MAUI</a:t>
            </a:r>
          </a:p>
          <a:p>
            <a:pPr>
              <a:lnSpc>
                <a:spcPct val="150000"/>
              </a:lnSpc>
            </a:pPr>
            <a:r>
              <a:rPr lang="en-US" b="1" dirty="0"/>
              <a:t>Achievements &amp; Trophies</a:t>
            </a:r>
            <a:r>
              <a:rPr lang="en-US" dirty="0"/>
              <a:t> – </a:t>
            </a:r>
            <a:r>
              <a:rPr lang="en-US" dirty="0" err="1"/>
              <a:t>Unlockable</a:t>
            </a:r>
            <a:r>
              <a:rPr lang="en-US" dirty="0"/>
              <a:t> rewards for reaching milestones</a:t>
            </a:r>
          </a:p>
          <a:p>
            <a:pPr>
              <a:lnSpc>
                <a:spcPct val="150000"/>
              </a:lnSpc>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
        <p:nvSpPr>
          <p:cNvPr id="5" name="object 5"/>
          <p:cNvSpPr txBox="1"/>
          <p:nvPr/>
        </p:nvSpPr>
        <p:spPr>
          <a:xfrm>
            <a:off x="719138" y="1189132"/>
            <a:ext cx="2496185" cy="284480"/>
          </a:xfrm>
          <a:prstGeom prst="rect">
            <a:avLst/>
          </a:prstGeom>
        </p:spPr>
        <p:txBody>
          <a:bodyPr vert="horz" wrap="square" lIns="0" tIns="12700" rIns="0" bIns="0" rtlCol="0">
            <a:spAutoFit/>
          </a:bodyPr>
          <a:lstStyle/>
          <a:p>
            <a:pPr marL="12700">
              <a:lnSpc>
                <a:spcPct val="100000"/>
              </a:lnSpc>
              <a:spcBef>
                <a:spcPts val="100"/>
              </a:spcBef>
            </a:pPr>
            <a:r>
              <a:rPr lang="en-US" sz="1700" spc="120" dirty="0" smtClean="0">
                <a:solidFill>
                  <a:srgbClr val="666666"/>
                </a:solidFill>
                <a:latin typeface="Trebuchet MS"/>
                <a:cs typeface="Trebuchet MS"/>
              </a:rPr>
              <a:t>Conclusion </a:t>
            </a:r>
            <a:endParaRPr sz="1700">
              <a:latin typeface="Trebuchet MS"/>
              <a:cs typeface="Trebuchet MS"/>
            </a:endParaRPr>
          </a:p>
        </p:txBody>
      </p:sp>
      <p:sp>
        <p:nvSpPr>
          <p:cNvPr id="4" name="TextBox 3"/>
          <p:cNvSpPr txBox="1"/>
          <p:nvPr/>
        </p:nvSpPr>
        <p:spPr>
          <a:xfrm>
            <a:off x="533400" y="1600200"/>
            <a:ext cx="11201400" cy="4662815"/>
          </a:xfrm>
          <a:prstGeom prst="rect">
            <a:avLst/>
          </a:prstGeom>
          <a:noFill/>
        </p:spPr>
        <p:txBody>
          <a:bodyPr wrap="square" rtlCol="0">
            <a:spAutoFit/>
          </a:bodyPr>
          <a:lstStyle/>
          <a:p>
            <a:pPr>
              <a:lnSpc>
                <a:spcPct val="150000"/>
              </a:lnSpc>
            </a:pPr>
            <a:r>
              <a:rPr lang="en-US" b="1" dirty="0" smtClean="0"/>
              <a:t>Conclusion</a:t>
            </a:r>
          </a:p>
          <a:p>
            <a:pPr>
              <a:lnSpc>
                <a:spcPct val="150000"/>
              </a:lnSpc>
            </a:pPr>
            <a:r>
              <a:rPr lang="en-US" dirty="0"/>
              <a:t>The Car Racing Game is a successful desktop application developed using C# and Windows Forms. It demonstrates the effective use of key programming concepts such as event handling, timers, collision detection, and graphical user interface design.</a:t>
            </a:r>
          </a:p>
          <a:p>
            <a:pPr>
              <a:lnSpc>
                <a:spcPct val="150000"/>
              </a:lnSpc>
            </a:pPr>
            <a:r>
              <a:rPr lang="en-US" dirty="0"/>
              <a:t>The game provides an interactive and enjoyable experience where the player controls a car, avoids enemy vehicles, and scores points by surviving longer. Features like dynamic difficulty, restart option, and optional database integration for high scores make the game engaging and competitive.</a:t>
            </a:r>
          </a:p>
          <a:p>
            <a:pPr>
              <a:lnSpc>
                <a:spcPct val="150000"/>
              </a:lnSpc>
            </a:pPr>
            <a:r>
              <a:rPr lang="en-US" dirty="0"/>
              <a:t>This project helped in understanding real-time application development, problem-solving, and game logic implementation. It serves as a solid foundation for beginners learning C# programming.</a:t>
            </a:r>
          </a:p>
          <a:p>
            <a:pPr>
              <a:lnSpc>
                <a:spcPct val="150000"/>
              </a:lnSpc>
            </a:pPr>
            <a:r>
              <a:rPr lang="en-US" dirty="0"/>
              <a:t>The Car Racing Game can be further enhanced with additional features like sound effects, power-ups, and online </a:t>
            </a:r>
            <a:r>
              <a:rPr lang="en-US" dirty="0" err="1"/>
              <a:t>leaderboards</a:t>
            </a:r>
            <a:r>
              <a:rPr lang="en-US" dirty="0"/>
              <a:t>, making it a complete and professional gaming application.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2192000" cy="68519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TotalTime>
  <Words>1270</Words>
  <Application>Microsoft Office PowerPoint</Application>
  <PresentationFormat>Custom</PresentationFormat>
  <Paragraphs>115</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MU_logo_PPT (4).pptx</dc:title>
  <dc:creator>SAKET KUMAR BHAGAT</dc:creator>
  <cp:lastModifiedBy>SAKET KUMAR BHAGAT</cp:lastModifiedBy>
  <cp:revision>5</cp:revision>
  <dcterms:created xsi:type="dcterms:W3CDTF">2026-04-09T17:58:56Z</dcterms:created>
  <dcterms:modified xsi:type="dcterms:W3CDTF">2026-04-09T21:05:19Z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2026-04-09T00:00:00Z</vt:filetime>
  </property>
  <property fmtid="{D5CDD505-2E9C-101B-9397-08002B2CF9AE}" pid="3" name="Creator">
    <vt:lpwstr>Google</vt:lpwstr>
  </property>
  <property fmtid="{D5CDD505-2E9C-101B-9397-08002B2CF9AE}" pid="4" name="LastSaved">
    <vt:filetime>2026-04-09T00:00:00Z</vt:filetime>
  </property>
</Properties>
</file>